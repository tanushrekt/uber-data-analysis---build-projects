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65-4FE6-B37B-48FFB7C0A56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765-4FE6-B37B-48FFB7C0A56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765-4FE6-B37B-48FFB7C0A56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765-4FE6-B37B-48FFB7C0A56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765-4FE6-B37B-48FFB7C0A56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765-4FE6-B37B-48FFB7C0A56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765-4FE6-B37B-48FFB7C0A5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Go Sedan</c:v>
                </c:pt>
                <c:pt idx="1">
                  <c:v>Auto</c:v>
                </c:pt>
                <c:pt idx="2">
                  <c:v>Premier Sedan</c:v>
                </c:pt>
                <c:pt idx="3">
                  <c:v>eBike</c:v>
                </c:pt>
                <c:pt idx="4">
                  <c:v>Go Mini</c:v>
                </c:pt>
                <c:pt idx="5">
                  <c:v>Bike</c:v>
                </c:pt>
                <c:pt idx="6">
                  <c:v>Uber XL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38.6</c:v>
                </c:pt>
                <c:pt idx="1">
                  <c:v>38.1</c:v>
                </c:pt>
                <c:pt idx="2">
                  <c:v>37.9</c:v>
                </c:pt>
                <c:pt idx="3">
                  <c:v>37.9</c:v>
                </c:pt>
                <c:pt idx="4">
                  <c:v>37.799999999999997</c:v>
                </c:pt>
                <c:pt idx="5">
                  <c:v>37.700000000000003</c:v>
                </c:pt>
                <c:pt idx="6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765-4FE6-B37B-48FFB7C0A5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36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Uber XL</c:v>
                </c:pt>
                <c:pt idx="1">
                  <c:v>eBike</c:v>
                </c:pt>
                <c:pt idx="2">
                  <c:v>Premier Sedan</c:v>
                </c:pt>
                <c:pt idx="3">
                  <c:v>Bike</c:v>
                </c:pt>
                <c:pt idx="4">
                  <c:v>Go Sedan</c:v>
                </c:pt>
                <c:pt idx="5">
                  <c:v>Go Mini</c:v>
                </c:pt>
                <c:pt idx="6">
                  <c:v>Auto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1406256</c:v>
                </c:pt>
                <c:pt idx="1">
                  <c:v>3298157</c:v>
                </c:pt>
                <c:pt idx="2">
                  <c:v>5733655</c:v>
                </c:pt>
                <c:pt idx="3">
                  <c:v>7144913</c:v>
                </c:pt>
                <c:pt idx="4">
                  <c:v>8538560</c:v>
                </c:pt>
                <c:pt idx="5">
                  <c:v>9411418</c:v>
                </c:pt>
                <c:pt idx="6">
                  <c:v>11727615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B1-4180-B361-ED1D7CB311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 Mini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942-4603-8993-A2EF0DF8C0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 Sedan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25.98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942-4603-8993-A2EF0DF8C0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Bike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942-4603-8993-A2EF0DF8C0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Premier Sedan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25.95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942-4603-8993-A2EF0DF8C03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eBike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26.34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942-4603-8993-A2EF0DF8C03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Uber XL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25.99</c:v>
                </c:pt>
              </c:numCache>
            </c:numRef>
          </c:xVal>
          <c:yVal>
            <c:numRef>
              <c:f>Sheet1!$G$2:$G$2</c:f>
              <c:numCache>
                <c:formatCode>General</c:formatCode>
                <c:ptCount val="1"/>
                <c:pt idx="0">
                  <c:v>25.72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942-4603-8993-A2EF0DF8C0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52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91440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897003"/>
            <a:ext cx="237744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90020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INSIGHTS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Ride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Rides  ·  7 Vehicle Types  ·  Full Year 2024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4114800"/>
            <a:ext cx="1691640" cy="73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4133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~38%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Failure Rate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77440" y="4114800"/>
            <a:ext cx="1691640" cy="73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77440" y="4133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₹507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377440" y="4480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Booking Value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97680" y="4114800"/>
            <a:ext cx="1691640" cy="73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0" y="4133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r=0.006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97680" y="4480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Distance–Value Corr.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4A3B8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2024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2801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149,955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Total Bookings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87752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87752" y="1005840"/>
            <a:ext cx="192024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12801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93,210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633472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64024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64024" y="1005840"/>
            <a:ext cx="192024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28016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~56,745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4809744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Failed / Cancelled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40296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940296" y="1005840"/>
            <a:ext cx="192024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28016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986016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Vehicle Types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Booking statuses: Completed · Cancelled by Customer · Cancelled by Driver · No Driver Found · Incomplete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4A3B8"/>
                </a:solidFill>
              </a:rPr>
              <a:t>Q1 · FAILURE RATE BY VEHICLE TYPE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005840"/>
            <a:ext cx="283464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943600" y="1005840"/>
            <a:ext cx="91440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12648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Failure rates are nearly identical across all vehicle types (37–39%), suggesting the issue is systemic — not vehicle-specific.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0" y="2926080"/>
            <a:ext cx="283464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943600" y="2926080"/>
            <a:ext cx="91440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12648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Go Sedan leads at 38.6%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26480" y="336499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Uber XL has the lowest at 37.4%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Difference across all types: only 1.2 percentage points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4A3B8"/>
                </a:solidFill>
              </a:rPr>
              <a:t>Q1 · TOP CANCELLATION REASONS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Cancellations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3931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874520"/>
            <a:ext cx="338328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Customer related issue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94760" y="1874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6,837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624328"/>
            <a:ext cx="3340723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2350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Customer was coughing/sick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52203" y="26243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6,751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374136"/>
            <a:ext cx="332835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Personal &amp; car related issues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39832" y="33741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6,726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123944"/>
            <a:ext cx="3308558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3849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Overcrowding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20038" y="4123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6,686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Cancellations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393192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1874520"/>
            <a:ext cx="3383280" cy="21945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Wrong Address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75320" y="18745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2,362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2478024"/>
            <a:ext cx="3370389" cy="21945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2203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Change of plans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62429" y="24780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2,353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3081528"/>
            <a:ext cx="3344606" cy="21945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46320" y="2807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Driver not moving to pickup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36646" y="30815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2,335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3685032"/>
            <a:ext cx="3287311" cy="21945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4632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Driver asked to cancel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79351" y="368503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2,295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46320" y="4288536"/>
            <a:ext cx="1654398" cy="21945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46320" y="4014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 is not working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46438" y="428853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1,155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480560" y="960120"/>
            <a:ext cx="0" cy="3931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4A3B8"/>
                </a:solidFill>
              </a:rPr>
              <a:t>Q2 · REVENUE BY VEHICLE TYPE  (COMPLETED RIDES)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Booking Value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217920" y="1463040"/>
            <a:ext cx="265176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309360" y="1517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0" y="1499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₹506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0936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23,155 rides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17920" y="2304288"/>
            <a:ext cx="265176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30936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Go Mini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0" y="23408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₹507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309360" y="2670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18,549 rides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17920" y="3145536"/>
            <a:ext cx="265176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3093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Go Sedan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315200" y="3182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₹512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309360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16,676 rides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17920" y="3986784"/>
            <a:ext cx="265176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09360" y="4041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Premier Sedan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3152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₹510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309360" y="43525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11,252 rides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4A3B8"/>
                </a:solidFill>
              </a:rPr>
              <a:t>Q2 · DISTANCE vs. BOOKING VALUE CORRELATION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05840"/>
            <a:ext cx="301752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760720" y="1097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0.006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576072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Correlation: Booking Value ↔ Distance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60720" y="260604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60720" y="260604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897880" y="26426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Pricing is NOT Distance-Driven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89788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 near-zero correlation means rides earn almost the same revenue regardless of how far they travel.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60720" y="338328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60720" y="338328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897880" y="3419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All Vehicle Types Cluster Tightly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97880" y="3657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Every vehicle type averages ~₹503–512 per booking and ~25–26 km — an unusually uniform pattern.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60720" y="416052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760720" y="4160520"/>
            <a:ext cx="73152" cy="7132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897880" y="41970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897880" y="4434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Review the pricing model. Dynamic or distance-tiered pricing could significantly increase revenue on longer rides.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533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258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Systemic Failures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181051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With ~38% failure rate uniform across all vehicle types, root-cause analysis should focus on platform-level issues: driver app UX, incentive structures, and supply-demand matching — not vehicle-specific fixes.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3533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258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Driver Cancellations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65192" y="181051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The top 4 driver cancellation reasons account for ~27,000 rides lost. Implement in-app health screening, stricter passenger-count verification, and targeted driver-retention programs.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2971800"/>
            <a:ext cx="41148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65760" y="297180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1363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108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Revamp Pricing Model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0352" y="359359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A near-zero correlation between ride distance and booking value suggests flat or miscalibrated pricing. Introducing dynamic distance-tiered fares could meaningfully grow revenue on longer routes.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00600" y="2971800"/>
            <a:ext cx="41148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00600" y="297180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13639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108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High-Volume Segments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65192" y="359359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Auto and Go Mini together account for over 40K completed rides and ₹21M+ revenue. Prioritising driver supply and quality in these categories delivers the highest ROI.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Ride Data – Business Analysis</dc:title>
  <dc:subject>PptxGenJS Presentation</dc:subject>
  <dc:creator>PptxGenJS</dc:creator>
  <cp:lastModifiedBy>Tanushre K.T</cp:lastModifiedBy>
  <cp:revision>2</cp:revision>
  <dcterms:created xsi:type="dcterms:W3CDTF">2026-03-26T21:16:19Z</dcterms:created>
  <dcterms:modified xsi:type="dcterms:W3CDTF">2026-03-26T21:22:06Z</dcterms:modified>
</cp:coreProperties>
</file>